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8B22"/>
    <a:srgbClr val="000080"/>
    <a:srgbClr val="FF6F61"/>
    <a:srgbClr val="1E90FF"/>
    <a:srgbClr val="ED7D31"/>
    <a:srgbClr val="00B05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-156" y="-7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60c0a369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60c0a369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60c0a369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60c0a369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733476" y="3109650"/>
            <a:ext cx="908632" cy="1038000"/>
          </a:xfrm>
          <a:prstGeom prst="rect">
            <a:avLst/>
          </a:prstGeom>
          <a:noFill/>
          <a:ln w="3810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Use values</a:t>
            </a:r>
            <a:endParaRPr sz="900" dirty="0"/>
          </a:p>
        </p:txBody>
      </p:sp>
      <p:sp>
        <p:nvSpPr>
          <p:cNvPr id="56" name="Google Shape;56;p13"/>
          <p:cNvSpPr/>
          <p:nvPr/>
        </p:nvSpPr>
        <p:spPr>
          <a:xfrm>
            <a:off x="2317961" y="1936950"/>
            <a:ext cx="1195310" cy="6417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Emissions</a:t>
            </a:r>
            <a:endParaRPr dirty="0"/>
          </a:p>
        </p:txBody>
      </p:sp>
      <p:cxnSp>
        <p:nvCxnSpPr>
          <p:cNvPr id="61" name="Google Shape;61;p13"/>
          <p:cNvCxnSpPr>
            <a:cxnSpLocks/>
            <a:stCxn id="56" idx="3"/>
            <a:endCxn id="2" idx="1"/>
          </p:cNvCxnSpPr>
          <p:nvPr/>
        </p:nvCxnSpPr>
        <p:spPr>
          <a:xfrm>
            <a:off x="3513271" y="2257800"/>
            <a:ext cx="53854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" name="Google Shape;63;p13"/>
          <p:cNvSpPr/>
          <p:nvPr/>
        </p:nvSpPr>
        <p:spPr>
          <a:xfrm>
            <a:off x="5588517" y="2097376"/>
            <a:ext cx="2520233" cy="32084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Damage functions</a:t>
            </a:r>
            <a:endParaRPr dirty="0"/>
          </a:p>
        </p:txBody>
      </p:sp>
      <p:sp>
        <p:nvSpPr>
          <p:cNvPr id="64" name="Google Shape;64;p13"/>
          <p:cNvSpPr/>
          <p:nvPr/>
        </p:nvSpPr>
        <p:spPr>
          <a:xfrm>
            <a:off x="6109474" y="3361076"/>
            <a:ext cx="540561" cy="155238"/>
          </a:xfrm>
          <a:prstGeom prst="rect">
            <a:avLst/>
          </a:prstGeom>
          <a:solidFill>
            <a:srgbClr val="00008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Ports</a:t>
            </a:r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6109476" y="3535376"/>
            <a:ext cx="540562" cy="146550"/>
          </a:xfrm>
          <a:prstGeom prst="rect">
            <a:avLst/>
          </a:prstGeom>
          <a:solidFill>
            <a:srgbClr val="1E9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Fisheries</a:t>
            </a:r>
            <a:endParaRPr sz="800" dirty="0">
              <a:solidFill>
                <a:srgbClr val="FFFFFF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11475" y="3361075"/>
            <a:ext cx="16713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Consumption</a:t>
            </a:r>
            <a:endParaRPr dirty="0"/>
          </a:p>
        </p:txBody>
      </p:sp>
      <p:sp>
        <p:nvSpPr>
          <p:cNvPr id="60" name="Google Shape;60;p13"/>
          <p:cNvSpPr/>
          <p:nvPr/>
        </p:nvSpPr>
        <p:spPr>
          <a:xfrm>
            <a:off x="2410526" y="3361074"/>
            <a:ext cx="1017900" cy="6417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Gross Output</a:t>
            </a:r>
            <a:endParaRPr/>
          </a:p>
        </p:txBody>
      </p:sp>
      <p:cxnSp>
        <p:nvCxnSpPr>
          <p:cNvPr id="73" name="Google Shape;73;p13"/>
          <p:cNvCxnSpPr>
            <a:cxnSpLocks/>
            <a:stCxn id="60" idx="0"/>
            <a:endCxn id="56" idx="2"/>
          </p:cNvCxnSpPr>
          <p:nvPr/>
        </p:nvCxnSpPr>
        <p:spPr>
          <a:xfrm flipH="1" flipV="1">
            <a:off x="2915616" y="2578650"/>
            <a:ext cx="3860" cy="7824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cxnSpLocks/>
            <a:stCxn id="60" idx="3"/>
            <a:endCxn id="66" idx="1"/>
          </p:cNvCxnSpPr>
          <p:nvPr/>
        </p:nvCxnSpPr>
        <p:spPr>
          <a:xfrm>
            <a:off x="3428426" y="3681924"/>
            <a:ext cx="983049" cy="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" name="Google Shape;77;p13"/>
          <p:cNvSpPr/>
          <p:nvPr/>
        </p:nvSpPr>
        <p:spPr>
          <a:xfrm>
            <a:off x="5673825" y="4447287"/>
            <a:ext cx="1671300" cy="34475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Welfare function</a:t>
            </a:r>
            <a:endParaRPr dirty="0"/>
          </a:p>
        </p:txBody>
      </p:sp>
      <p:cxnSp>
        <p:nvCxnSpPr>
          <p:cNvPr id="79" name="Google Shape;79;p13"/>
          <p:cNvCxnSpPr>
            <a:cxnSpLocks/>
            <a:stCxn id="66" idx="2"/>
            <a:endCxn id="77" idx="0"/>
          </p:cNvCxnSpPr>
          <p:nvPr/>
        </p:nvCxnSpPr>
        <p:spPr>
          <a:xfrm rot="16200000" flipH="1">
            <a:off x="5656044" y="3593856"/>
            <a:ext cx="444512" cy="1262350"/>
          </a:xfrm>
          <a:prstGeom prst="bentConnector3">
            <a:avLst>
              <a:gd name="adj1" fmla="val 6632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" name="Google Shape;84;p13"/>
          <p:cNvSpPr/>
          <p:nvPr/>
        </p:nvSpPr>
        <p:spPr>
          <a:xfrm>
            <a:off x="414761" y="2622376"/>
            <a:ext cx="291600" cy="2058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25145" y="2315325"/>
            <a:ext cx="291600" cy="2058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16744" y="2230725"/>
            <a:ext cx="1307509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RICE50+</a:t>
            </a:r>
            <a:endParaRPr dirty="0"/>
          </a:p>
        </p:txBody>
      </p:sp>
      <p:sp>
        <p:nvSpPr>
          <p:cNvPr id="19" name="Google Shape;65;p13">
            <a:extLst>
              <a:ext uri="{FF2B5EF4-FFF2-40B4-BE49-F238E27FC236}">
                <a16:creationId xmlns:a16="http://schemas.microsoft.com/office/drawing/2014/main" id="{C93BA9C1-DDEA-6F14-3336-D167C6E1E17C}"/>
              </a:ext>
            </a:extLst>
          </p:cNvPr>
          <p:cNvSpPr/>
          <p:nvPr/>
        </p:nvSpPr>
        <p:spPr>
          <a:xfrm>
            <a:off x="6109476" y="3701451"/>
            <a:ext cx="540562" cy="146550"/>
          </a:xfrm>
          <a:prstGeom prst="rect">
            <a:avLst/>
          </a:prstGeom>
          <a:solidFill>
            <a:srgbClr val="228B2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Mangroves</a:t>
            </a:r>
            <a:endParaRPr sz="800" dirty="0">
              <a:solidFill>
                <a:srgbClr val="FFFFFF"/>
              </a:solidFill>
            </a:endParaRPr>
          </a:p>
        </p:txBody>
      </p:sp>
      <p:sp>
        <p:nvSpPr>
          <p:cNvPr id="20" name="Google Shape;65;p13">
            <a:extLst>
              <a:ext uri="{FF2B5EF4-FFF2-40B4-BE49-F238E27FC236}">
                <a16:creationId xmlns:a16="http://schemas.microsoft.com/office/drawing/2014/main" id="{44DFEFE1-3CA1-628A-5CC7-1FAFC58B851D}"/>
              </a:ext>
            </a:extLst>
          </p:cNvPr>
          <p:cNvSpPr/>
          <p:nvPr/>
        </p:nvSpPr>
        <p:spPr>
          <a:xfrm>
            <a:off x="6109476" y="3865151"/>
            <a:ext cx="540562" cy="137624"/>
          </a:xfrm>
          <a:prstGeom prst="rect">
            <a:avLst/>
          </a:prstGeom>
          <a:solidFill>
            <a:srgbClr val="FF6F6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Corals</a:t>
            </a:r>
            <a:endParaRPr sz="800" dirty="0">
              <a:solidFill>
                <a:srgbClr val="FFFFFF"/>
              </a:solidFill>
            </a:endParaRPr>
          </a:p>
        </p:txBody>
      </p:sp>
      <p:cxnSp>
        <p:nvCxnSpPr>
          <p:cNvPr id="27" name="Google Shape;79;p13">
            <a:extLst>
              <a:ext uri="{FF2B5EF4-FFF2-40B4-BE49-F238E27FC236}">
                <a16:creationId xmlns:a16="http://schemas.microsoft.com/office/drawing/2014/main" id="{DD37FE90-FD75-8003-2A19-B8B49198BBE0}"/>
              </a:ext>
            </a:extLst>
          </p:cNvPr>
          <p:cNvCxnSpPr>
            <a:cxnSpLocks/>
            <a:stCxn id="20" idx="2"/>
            <a:endCxn id="77" idx="0"/>
          </p:cNvCxnSpPr>
          <p:nvPr/>
        </p:nvCxnSpPr>
        <p:spPr>
          <a:xfrm rot="16200000" flipH="1">
            <a:off x="6222360" y="4160172"/>
            <a:ext cx="444512" cy="129718"/>
          </a:xfrm>
          <a:prstGeom prst="bentConnector3">
            <a:avLst>
              <a:gd name="adj1" fmla="val 6693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79;p13">
            <a:extLst>
              <a:ext uri="{FF2B5EF4-FFF2-40B4-BE49-F238E27FC236}">
                <a16:creationId xmlns:a16="http://schemas.microsoft.com/office/drawing/2014/main" id="{4E07D0A7-FF4E-D611-ECC6-C417107E421A}"/>
              </a:ext>
            </a:extLst>
          </p:cNvPr>
          <p:cNvCxnSpPr>
            <a:cxnSpLocks/>
            <a:stCxn id="54" idx="2"/>
            <a:endCxn id="77" idx="0"/>
          </p:cNvCxnSpPr>
          <p:nvPr/>
        </p:nvCxnSpPr>
        <p:spPr>
          <a:xfrm rot="5400000">
            <a:off x="6698816" y="3958310"/>
            <a:ext cx="299637" cy="67831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" name="Google Shape;54;p13">
            <a:extLst>
              <a:ext uri="{FF2B5EF4-FFF2-40B4-BE49-F238E27FC236}">
                <a16:creationId xmlns:a16="http://schemas.microsoft.com/office/drawing/2014/main" id="{B4C99F53-4FC5-6872-3F0A-865FA4BC6F05}"/>
              </a:ext>
            </a:extLst>
          </p:cNvPr>
          <p:cNvSpPr/>
          <p:nvPr/>
        </p:nvSpPr>
        <p:spPr>
          <a:xfrm>
            <a:off x="4251964" y="3109650"/>
            <a:ext cx="2416652" cy="103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Market values</a:t>
            </a:r>
            <a:endParaRPr sz="900" dirty="0"/>
          </a:p>
        </p:txBody>
      </p:sp>
      <p:sp>
        <p:nvSpPr>
          <p:cNvPr id="93" name="Google Shape;87;p13">
            <a:extLst>
              <a:ext uri="{FF2B5EF4-FFF2-40B4-BE49-F238E27FC236}">
                <a16:creationId xmlns:a16="http://schemas.microsoft.com/office/drawing/2014/main" id="{40F3B7FA-1F55-CBCA-F523-7942F3F2ADB6}"/>
              </a:ext>
            </a:extLst>
          </p:cNvPr>
          <p:cNvSpPr txBox="1"/>
          <p:nvPr/>
        </p:nvSpPr>
        <p:spPr>
          <a:xfrm>
            <a:off x="706360" y="2537776"/>
            <a:ext cx="1317893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Blue RICE50+</a:t>
            </a:r>
            <a:endParaRPr dirty="0"/>
          </a:p>
        </p:txBody>
      </p:sp>
      <p:sp>
        <p:nvSpPr>
          <p:cNvPr id="94" name="Google Shape;60;p13">
            <a:extLst>
              <a:ext uri="{FF2B5EF4-FFF2-40B4-BE49-F238E27FC236}">
                <a16:creationId xmlns:a16="http://schemas.microsoft.com/office/drawing/2014/main" id="{066F6E39-BAED-99C7-9DDB-B6D04F429AE4}"/>
              </a:ext>
            </a:extLst>
          </p:cNvPr>
          <p:cNvSpPr/>
          <p:nvPr/>
        </p:nvSpPr>
        <p:spPr>
          <a:xfrm>
            <a:off x="2257379" y="4447554"/>
            <a:ext cx="306293" cy="375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</a:t>
            </a:r>
            <a:endParaRPr dirty="0"/>
          </a:p>
        </p:txBody>
      </p:sp>
      <p:sp>
        <p:nvSpPr>
          <p:cNvPr id="95" name="Google Shape;60;p13">
            <a:extLst>
              <a:ext uri="{FF2B5EF4-FFF2-40B4-BE49-F238E27FC236}">
                <a16:creationId xmlns:a16="http://schemas.microsoft.com/office/drawing/2014/main" id="{EB0E3ECD-0F4F-8DC7-A0C6-581606CBA22A}"/>
              </a:ext>
            </a:extLst>
          </p:cNvPr>
          <p:cNvSpPr/>
          <p:nvPr/>
        </p:nvSpPr>
        <p:spPr>
          <a:xfrm>
            <a:off x="2762470" y="4447554"/>
            <a:ext cx="306293" cy="375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</a:t>
            </a:r>
            <a:endParaRPr dirty="0"/>
          </a:p>
        </p:txBody>
      </p:sp>
      <p:sp>
        <p:nvSpPr>
          <p:cNvPr id="96" name="Google Shape;60;p13">
            <a:extLst>
              <a:ext uri="{FF2B5EF4-FFF2-40B4-BE49-F238E27FC236}">
                <a16:creationId xmlns:a16="http://schemas.microsoft.com/office/drawing/2014/main" id="{EC9BCB7B-A286-7207-BCF5-55A55D15D198}"/>
              </a:ext>
            </a:extLst>
          </p:cNvPr>
          <p:cNvSpPr/>
          <p:nvPr/>
        </p:nvSpPr>
        <p:spPr>
          <a:xfrm>
            <a:off x="3275279" y="4447554"/>
            <a:ext cx="306293" cy="375000"/>
          </a:xfrm>
          <a:prstGeom prst="rect">
            <a:avLst/>
          </a:prstGeom>
          <a:solidFill>
            <a:srgbClr val="3399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</a:t>
            </a:r>
            <a:endParaRPr dirty="0"/>
          </a:p>
        </p:txBody>
      </p:sp>
      <p:sp>
        <p:nvSpPr>
          <p:cNvPr id="97" name="Google Shape;84;p13">
            <a:extLst>
              <a:ext uri="{FF2B5EF4-FFF2-40B4-BE49-F238E27FC236}">
                <a16:creationId xmlns:a16="http://schemas.microsoft.com/office/drawing/2014/main" id="{17B03FBA-5EA5-A06D-8685-5ACB0EAC1EB4}"/>
              </a:ext>
            </a:extLst>
          </p:cNvPr>
          <p:cNvSpPr/>
          <p:nvPr/>
        </p:nvSpPr>
        <p:spPr>
          <a:xfrm>
            <a:off x="420455" y="2929427"/>
            <a:ext cx="291600" cy="205800"/>
          </a:xfrm>
          <a:prstGeom prst="rect">
            <a:avLst/>
          </a:prstGeom>
          <a:solidFill>
            <a:srgbClr val="3399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</a:endParaRPr>
          </a:p>
        </p:txBody>
      </p:sp>
      <p:sp>
        <p:nvSpPr>
          <p:cNvPr id="98" name="Google Shape;87;p13">
            <a:extLst>
              <a:ext uri="{FF2B5EF4-FFF2-40B4-BE49-F238E27FC236}">
                <a16:creationId xmlns:a16="http://schemas.microsoft.com/office/drawing/2014/main" id="{1930D2EC-77CC-E785-803C-FAA90179C50B}"/>
              </a:ext>
            </a:extLst>
          </p:cNvPr>
          <p:cNvSpPr txBox="1"/>
          <p:nvPr/>
        </p:nvSpPr>
        <p:spPr>
          <a:xfrm>
            <a:off x="706360" y="2844827"/>
            <a:ext cx="1453856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Green RICE50+</a:t>
            </a:r>
            <a:endParaRPr dirty="0"/>
          </a:p>
        </p:txBody>
      </p:sp>
      <p:cxnSp>
        <p:nvCxnSpPr>
          <p:cNvPr id="99" name="Google Shape;79;p13">
            <a:extLst>
              <a:ext uri="{FF2B5EF4-FFF2-40B4-BE49-F238E27FC236}">
                <a16:creationId xmlns:a16="http://schemas.microsoft.com/office/drawing/2014/main" id="{E6FD040B-FA0C-BEBB-93BF-39E8A529468D}"/>
              </a:ext>
            </a:extLst>
          </p:cNvPr>
          <p:cNvCxnSpPr>
            <a:cxnSpLocks/>
            <a:stCxn id="94" idx="0"/>
            <a:endCxn id="60" idx="2"/>
          </p:cNvCxnSpPr>
          <p:nvPr/>
        </p:nvCxnSpPr>
        <p:spPr>
          <a:xfrm rot="5400000" flipH="1" flipV="1">
            <a:off x="2442611" y="3970689"/>
            <a:ext cx="444780" cy="5089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79;p13">
            <a:extLst>
              <a:ext uri="{FF2B5EF4-FFF2-40B4-BE49-F238E27FC236}">
                <a16:creationId xmlns:a16="http://schemas.microsoft.com/office/drawing/2014/main" id="{2EBEC2EA-6445-6B7B-095D-E26AFE5AF869}"/>
              </a:ext>
            </a:extLst>
          </p:cNvPr>
          <p:cNvCxnSpPr>
            <a:cxnSpLocks/>
            <a:stCxn id="95" idx="0"/>
            <a:endCxn id="60" idx="2"/>
          </p:cNvCxnSpPr>
          <p:nvPr/>
        </p:nvCxnSpPr>
        <p:spPr>
          <a:xfrm rot="5400000" flipH="1" flipV="1">
            <a:off x="2695156" y="4223235"/>
            <a:ext cx="444780" cy="385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79;p13">
            <a:extLst>
              <a:ext uri="{FF2B5EF4-FFF2-40B4-BE49-F238E27FC236}">
                <a16:creationId xmlns:a16="http://schemas.microsoft.com/office/drawing/2014/main" id="{778AE7E7-AC72-0C5B-175D-C5DBFE647D82}"/>
              </a:ext>
            </a:extLst>
          </p:cNvPr>
          <p:cNvCxnSpPr>
            <a:cxnSpLocks/>
            <a:stCxn id="96" idx="0"/>
            <a:endCxn id="60" idx="2"/>
          </p:cNvCxnSpPr>
          <p:nvPr/>
        </p:nvCxnSpPr>
        <p:spPr>
          <a:xfrm rot="16200000" flipV="1">
            <a:off x="2951561" y="3970689"/>
            <a:ext cx="444780" cy="5089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" name="Google Shape;54;p13">
            <a:extLst>
              <a:ext uri="{FF2B5EF4-FFF2-40B4-BE49-F238E27FC236}">
                <a16:creationId xmlns:a16="http://schemas.microsoft.com/office/drawing/2014/main" id="{54796F6F-8895-F913-3E9F-CEE1D0CCDA34}"/>
              </a:ext>
            </a:extLst>
          </p:cNvPr>
          <p:cNvSpPr/>
          <p:nvPr/>
        </p:nvSpPr>
        <p:spPr>
          <a:xfrm>
            <a:off x="7734357" y="3109650"/>
            <a:ext cx="908633" cy="1038000"/>
          </a:xfrm>
          <a:prstGeom prst="rect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Non-Use values</a:t>
            </a:r>
            <a:endParaRPr sz="900" dirty="0"/>
          </a:p>
        </p:txBody>
      </p:sp>
      <p:sp>
        <p:nvSpPr>
          <p:cNvPr id="115" name="Google Shape;65;p13">
            <a:extLst>
              <a:ext uri="{FF2B5EF4-FFF2-40B4-BE49-F238E27FC236}">
                <a16:creationId xmlns:a16="http://schemas.microsoft.com/office/drawing/2014/main" id="{0F56AED3-C6ED-BC45-85F0-933C0B61D1B4}"/>
              </a:ext>
            </a:extLst>
          </p:cNvPr>
          <p:cNvSpPr/>
          <p:nvPr/>
        </p:nvSpPr>
        <p:spPr>
          <a:xfrm>
            <a:off x="6916143" y="3530120"/>
            <a:ext cx="540562" cy="146550"/>
          </a:xfrm>
          <a:prstGeom prst="rect">
            <a:avLst/>
          </a:prstGeom>
          <a:solidFill>
            <a:srgbClr val="1E9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Fisheries</a:t>
            </a:r>
            <a:endParaRPr sz="800" dirty="0">
              <a:solidFill>
                <a:srgbClr val="FFFFFF"/>
              </a:solidFill>
            </a:endParaRPr>
          </a:p>
        </p:txBody>
      </p:sp>
      <p:sp>
        <p:nvSpPr>
          <p:cNvPr id="116" name="Google Shape;65;p13">
            <a:extLst>
              <a:ext uri="{FF2B5EF4-FFF2-40B4-BE49-F238E27FC236}">
                <a16:creationId xmlns:a16="http://schemas.microsoft.com/office/drawing/2014/main" id="{06B3E750-3403-9FC9-6289-016ACB230822}"/>
              </a:ext>
            </a:extLst>
          </p:cNvPr>
          <p:cNvSpPr/>
          <p:nvPr/>
        </p:nvSpPr>
        <p:spPr>
          <a:xfrm>
            <a:off x="6916143" y="3696195"/>
            <a:ext cx="540562" cy="146550"/>
          </a:xfrm>
          <a:prstGeom prst="rect">
            <a:avLst/>
          </a:prstGeom>
          <a:solidFill>
            <a:srgbClr val="228B2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Mangroves</a:t>
            </a:r>
            <a:endParaRPr sz="800" dirty="0">
              <a:solidFill>
                <a:srgbClr val="FFFFFF"/>
              </a:solidFill>
            </a:endParaRPr>
          </a:p>
        </p:txBody>
      </p:sp>
      <p:sp>
        <p:nvSpPr>
          <p:cNvPr id="117" name="Google Shape;65;p13">
            <a:extLst>
              <a:ext uri="{FF2B5EF4-FFF2-40B4-BE49-F238E27FC236}">
                <a16:creationId xmlns:a16="http://schemas.microsoft.com/office/drawing/2014/main" id="{D8323AAD-5479-1571-08F3-010DEFF53B6A}"/>
              </a:ext>
            </a:extLst>
          </p:cNvPr>
          <p:cNvSpPr/>
          <p:nvPr/>
        </p:nvSpPr>
        <p:spPr>
          <a:xfrm>
            <a:off x="6916143" y="3859895"/>
            <a:ext cx="540562" cy="137624"/>
          </a:xfrm>
          <a:prstGeom prst="rect">
            <a:avLst/>
          </a:prstGeom>
          <a:solidFill>
            <a:srgbClr val="FF6F6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Corals</a:t>
            </a:r>
            <a:endParaRPr sz="800" dirty="0">
              <a:solidFill>
                <a:srgbClr val="FFFFFF"/>
              </a:solidFill>
            </a:endParaRPr>
          </a:p>
        </p:txBody>
      </p:sp>
      <p:sp>
        <p:nvSpPr>
          <p:cNvPr id="119" name="Google Shape;65;p13">
            <a:extLst>
              <a:ext uri="{FF2B5EF4-FFF2-40B4-BE49-F238E27FC236}">
                <a16:creationId xmlns:a16="http://schemas.microsoft.com/office/drawing/2014/main" id="{B8B17161-499F-6ABD-11FD-737133F82B87}"/>
              </a:ext>
            </a:extLst>
          </p:cNvPr>
          <p:cNvSpPr/>
          <p:nvPr/>
        </p:nvSpPr>
        <p:spPr>
          <a:xfrm>
            <a:off x="7933026" y="3688311"/>
            <a:ext cx="540562" cy="146550"/>
          </a:xfrm>
          <a:prstGeom prst="rect">
            <a:avLst/>
          </a:prstGeom>
          <a:solidFill>
            <a:srgbClr val="228B2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Mangroves</a:t>
            </a:r>
            <a:endParaRPr sz="800" dirty="0">
              <a:solidFill>
                <a:srgbClr val="FFFFFF"/>
              </a:solidFill>
            </a:endParaRPr>
          </a:p>
        </p:txBody>
      </p:sp>
      <p:sp>
        <p:nvSpPr>
          <p:cNvPr id="120" name="Google Shape;65;p13">
            <a:extLst>
              <a:ext uri="{FF2B5EF4-FFF2-40B4-BE49-F238E27FC236}">
                <a16:creationId xmlns:a16="http://schemas.microsoft.com/office/drawing/2014/main" id="{7243C469-544D-620A-F545-BB355149B86C}"/>
              </a:ext>
            </a:extLst>
          </p:cNvPr>
          <p:cNvSpPr/>
          <p:nvPr/>
        </p:nvSpPr>
        <p:spPr>
          <a:xfrm>
            <a:off x="7940909" y="3852011"/>
            <a:ext cx="540562" cy="137624"/>
          </a:xfrm>
          <a:prstGeom prst="rect">
            <a:avLst/>
          </a:prstGeom>
          <a:solidFill>
            <a:srgbClr val="FF6F6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Corals</a:t>
            </a:r>
            <a:endParaRPr sz="800" dirty="0">
              <a:solidFill>
                <a:srgbClr val="FFFFFF"/>
              </a:solidFill>
            </a:endParaRPr>
          </a:p>
        </p:txBody>
      </p:sp>
      <p:cxnSp>
        <p:nvCxnSpPr>
          <p:cNvPr id="134" name="Google Shape;79;p13">
            <a:extLst>
              <a:ext uri="{FF2B5EF4-FFF2-40B4-BE49-F238E27FC236}">
                <a16:creationId xmlns:a16="http://schemas.microsoft.com/office/drawing/2014/main" id="{7EF2A682-5584-0359-2CF5-2240AFA42C32}"/>
              </a:ext>
            </a:extLst>
          </p:cNvPr>
          <p:cNvCxnSpPr>
            <a:cxnSpLocks/>
            <a:endCxn id="64" idx="0"/>
          </p:cNvCxnSpPr>
          <p:nvPr/>
        </p:nvCxnSpPr>
        <p:spPr>
          <a:xfrm rot="16200000" flipH="1">
            <a:off x="5908328" y="2889648"/>
            <a:ext cx="942853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79;p13">
            <a:extLst>
              <a:ext uri="{FF2B5EF4-FFF2-40B4-BE49-F238E27FC236}">
                <a16:creationId xmlns:a16="http://schemas.microsoft.com/office/drawing/2014/main" id="{797E8FDA-CEFC-B48D-D3AA-1DE72430B11A}"/>
              </a:ext>
            </a:extLst>
          </p:cNvPr>
          <p:cNvCxnSpPr>
            <a:cxnSpLocks/>
            <a:stCxn id="63" idx="2"/>
            <a:endCxn id="54" idx="0"/>
          </p:cNvCxnSpPr>
          <p:nvPr/>
        </p:nvCxnSpPr>
        <p:spPr>
          <a:xfrm rot="16200000" flipH="1">
            <a:off x="6672501" y="2594358"/>
            <a:ext cx="691425" cy="33915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79;p13">
            <a:extLst>
              <a:ext uri="{FF2B5EF4-FFF2-40B4-BE49-F238E27FC236}">
                <a16:creationId xmlns:a16="http://schemas.microsoft.com/office/drawing/2014/main" id="{FD320526-736F-6AEC-E029-91E93F7DF43F}"/>
              </a:ext>
            </a:extLst>
          </p:cNvPr>
          <p:cNvCxnSpPr>
            <a:cxnSpLocks/>
            <a:endCxn id="112" idx="0"/>
          </p:cNvCxnSpPr>
          <p:nvPr/>
        </p:nvCxnSpPr>
        <p:spPr>
          <a:xfrm>
            <a:off x="7282061" y="2418223"/>
            <a:ext cx="906613" cy="691427"/>
          </a:xfrm>
          <a:prstGeom prst="bentConnector2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2D40DAF-58FF-A7DB-5F72-FA4BB83930C6}"/>
              </a:ext>
            </a:extLst>
          </p:cNvPr>
          <p:cNvSpPr/>
          <p:nvPr/>
        </p:nvSpPr>
        <p:spPr>
          <a:xfrm>
            <a:off x="6092794" y="3109649"/>
            <a:ext cx="586203" cy="103800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CFC78A7-B477-408D-968B-6E4C021F7586}"/>
              </a:ext>
            </a:extLst>
          </p:cNvPr>
          <p:cNvSpPr/>
          <p:nvPr/>
        </p:nvSpPr>
        <p:spPr>
          <a:xfrm>
            <a:off x="6748521" y="3109650"/>
            <a:ext cx="879498" cy="103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2A4E2A2-BF0D-C3BB-8563-A441AE8DFD32}"/>
              </a:ext>
            </a:extLst>
          </p:cNvPr>
          <p:cNvSpPr/>
          <p:nvPr/>
        </p:nvSpPr>
        <p:spPr>
          <a:xfrm>
            <a:off x="7760164" y="3109650"/>
            <a:ext cx="879498" cy="103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Google Shape;79;p13">
            <a:extLst>
              <a:ext uri="{FF2B5EF4-FFF2-40B4-BE49-F238E27FC236}">
                <a16:creationId xmlns:a16="http://schemas.microsoft.com/office/drawing/2014/main" id="{E8D722E0-0BDF-3D32-FC92-222D4FA8A4B1}"/>
              </a:ext>
            </a:extLst>
          </p:cNvPr>
          <p:cNvCxnSpPr>
            <a:cxnSpLocks/>
            <a:stCxn id="112" idx="2"/>
            <a:endCxn id="77" idx="0"/>
          </p:cNvCxnSpPr>
          <p:nvPr/>
        </p:nvCxnSpPr>
        <p:spPr>
          <a:xfrm rot="5400000">
            <a:off x="7199257" y="3457869"/>
            <a:ext cx="299637" cy="16791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56;p13">
            <a:extLst>
              <a:ext uri="{FF2B5EF4-FFF2-40B4-BE49-F238E27FC236}">
                <a16:creationId xmlns:a16="http://schemas.microsoft.com/office/drawing/2014/main" id="{509BD96A-30BD-3B56-C243-CF2E23A60B8A}"/>
              </a:ext>
            </a:extLst>
          </p:cNvPr>
          <p:cNvSpPr/>
          <p:nvPr/>
        </p:nvSpPr>
        <p:spPr>
          <a:xfrm>
            <a:off x="4051815" y="1936950"/>
            <a:ext cx="1195310" cy="6417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Climate Module</a:t>
            </a:r>
            <a:endParaRPr dirty="0"/>
          </a:p>
        </p:txBody>
      </p:sp>
      <p:cxnSp>
        <p:nvCxnSpPr>
          <p:cNvPr id="9" name="Google Shape;61;p13">
            <a:extLst>
              <a:ext uri="{FF2B5EF4-FFF2-40B4-BE49-F238E27FC236}">
                <a16:creationId xmlns:a16="http://schemas.microsoft.com/office/drawing/2014/main" id="{0F08BBC6-E501-F3AA-4C79-A559543520C3}"/>
              </a:ext>
            </a:extLst>
          </p:cNvPr>
          <p:cNvCxnSpPr>
            <a:cxnSpLocks/>
            <a:stCxn id="2" idx="3"/>
            <a:endCxn id="63" idx="1"/>
          </p:cNvCxnSpPr>
          <p:nvPr/>
        </p:nvCxnSpPr>
        <p:spPr>
          <a:xfrm>
            <a:off x="5247125" y="2257800"/>
            <a:ext cx="341392" cy="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79;p13">
            <a:extLst>
              <a:ext uri="{FF2B5EF4-FFF2-40B4-BE49-F238E27FC236}">
                <a16:creationId xmlns:a16="http://schemas.microsoft.com/office/drawing/2014/main" id="{5DDBB26A-CF3A-3AFC-296C-4E8474AC6D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31084" y="2744260"/>
            <a:ext cx="2408111" cy="625361"/>
          </a:xfrm>
          <a:prstGeom prst="bentConnector3">
            <a:avLst>
              <a:gd name="adj1" fmla="val 79560"/>
            </a:avLst>
          </a:prstGeom>
          <a:noFill/>
          <a:ln w="9525" cap="flat" cmpd="sng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6F7560-CFD5-239D-9816-33D6BC8CFF69}"/>
              </a:ext>
            </a:extLst>
          </p:cNvPr>
          <p:cNvCxnSpPr/>
          <p:nvPr/>
        </p:nvCxnSpPr>
        <p:spPr>
          <a:xfrm flipV="1">
            <a:off x="5839194" y="2426394"/>
            <a:ext cx="0" cy="31786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oogle Shape;79;p13">
            <a:extLst>
              <a:ext uri="{FF2B5EF4-FFF2-40B4-BE49-F238E27FC236}">
                <a16:creationId xmlns:a16="http://schemas.microsoft.com/office/drawing/2014/main" id="{A5EE0E97-AD5A-3EB0-B86D-D5EF9E14272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43738" y="2882574"/>
            <a:ext cx="2563170" cy="1550897"/>
          </a:xfrm>
          <a:prstGeom prst="bentConnector2">
            <a:avLst/>
          </a:prstGeom>
          <a:noFill/>
          <a:ln w="9525" cap="flat" cmpd="sng">
            <a:solidFill>
              <a:srgbClr val="228B2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3BBF28-5545-6936-0E1C-B21CBE35E0DE}"/>
              </a:ext>
            </a:extLst>
          </p:cNvPr>
          <p:cNvCxnSpPr>
            <a:cxnSpLocks/>
          </p:cNvCxnSpPr>
          <p:nvPr/>
        </p:nvCxnSpPr>
        <p:spPr>
          <a:xfrm flipH="1" flipV="1">
            <a:off x="6099471" y="2415266"/>
            <a:ext cx="7435" cy="467313"/>
          </a:xfrm>
          <a:prstGeom prst="line">
            <a:avLst/>
          </a:prstGeom>
          <a:ln>
            <a:solidFill>
              <a:srgbClr val="228B2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637725" y="3124450"/>
            <a:ext cx="1510800" cy="103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Non-market benefits</a:t>
            </a:r>
            <a:endParaRPr sz="900"/>
          </a:p>
        </p:txBody>
      </p:sp>
      <p:sp>
        <p:nvSpPr>
          <p:cNvPr id="55" name="Google Shape;55;p13"/>
          <p:cNvSpPr/>
          <p:nvPr/>
        </p:nvSpPr>
        <p:spPr>
          <a:xfrm>
            <a:off x="689625" y="3162925"/>
            <a:ext cx="1075200" cy="103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Blue Natural Capital Stock</a:t>
            </a:r>
            <a:endParaRPr sz="900"/>
          </a:p>
        </p:txBody>
      </p:sp>
      <p:sp>
        <p:nvSpPr>
          <p:cNvPr id="56" name="Google Shape;56;p13"/>
          <p:cNvSpPr/>
          <p:nvPr/>
        </p:nvSpPr>
        <p:spPr>
          <a:xfrm>
            <a:off x="2368325" y="191575"/>
            <a:ext cx="16713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Climate Module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50550" y="1753275"/>
            <a:ext cx="16713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Socioeconomic Module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4571825" y="1748325"/>
            <a:ext cx="13506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Damaged Output</a:t>
            </a:r>
            <a:endParaRPr/>
          </a:p>
        </p:txBody>
      </p:sp>
      <p:cxnSp>
        <p:nvCxnSpPr>
          <p:cNvPr id="59" name="Google Shape;59;p13"/>
          <p:cNvCxnSpPr>
            <a:stCxn id="57" idx="3"/>
            <a:endCxn id="60" idx="1"/>
          </p:cNvCxnSpPr>
          <p:nvPr/>
        </p:nvCxnSpPr>
        <p:spPr>
          <a:xfrm rot="10800000" flipH="1">
            <a:off x="2321850" y="2069325"/>
            <a:ext cx="3732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61;p13"/>
          <p:cNvCxnSpPr>
            <a:stCxn id="56" idx="3"/>
            <a:endCxn id="62" idx="1"/>
          </p:cNvCxnSpPr>
          <p:nvPr/>
        </p:nvCxnSpPr>
        <p:spPr>
          <a:xfrm>
            <a:off x="4039625" y="512425"/>
            <a:ext cx="363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" name="Google Shape;63;p13"/>
          <p:cNvSpPr/>
          <p:nvPr/>
        </p:nvSpPr>
        <p:spPr>
          <a:xfrm>
            <a:off x="4402925" y="191575"/>
            <a:ext cx="16713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Damage Estimates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6001625" y="191675"/>
            <a:ext cx="581100" cy="2445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Ports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6001625" y="496475"/>
            <a:ext cx="796800" cy="2445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Fisheries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11475" y="3361075"/>
            <a:ext cx="16713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Consumption</a:t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2802925" y="3460375"/>
            <a:ext cx="1158900" cy="2058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Use-values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815525" y="3553800"/>
            <a:ext cx="796800" cy="2445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Corals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815525" y="3858600"/>
            <a:ext cx="796800" cy="2445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Mangroves</a:t>
            </a:r>
            <a:endParaRPr sz="900">
              <a:solidFill>
                <a:srgbClr val="FFFFFF"/>
              </a:solidFill>
            </a:endParaRPr>
          </a:p>
        </p:txBody>
      </p:sp>
      <p:cxnSp>
        <p:nvCxnSpPr>
          <p:cNvPr id="70" name="Google Shape;70;p13"/>
          <p:cNvCxnSpPr>
            <a:stCxn id="57" idx="3"/>
          </p:cNvCxnSpPr>
          <p:nvPr/>
        </p:nvCxnSpPr>
        <p:spPr>
          <a:xfrm>
            <a:off x="2321850" y="2074125"/>
            <a:ext cx="165000" cy="1625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1" name="Google Shape;71;p13"/>
          <p:cNvCxnSpPr>
            <a:stCxn id="56" idx="1"/>
            <a:endCxn id="55" idx="1"/>
          </p:cNvCxnSpPr>
          <p:nvPr/>
        </p:nvCxnSpPr>
        <p:spPr>
          <a:xfrm flipH="1">
            <a:off x="689525" y="512425"/>
            <a:ext cx="1678800" cy="3169500"/>
          </a:xfrm>
          <a:prstGeom prst="bentConnector3">
            <a:avLst>
              <a:gd name="adj1" fmla="val 114178"/>
            </a:avLst>
          </a:prstGeom>
          <a:noFill/>
          <a:ln w="28575" cap="flat" cmpd="sng">
            <a:solidFill>
              <a:srgbClr val="3D85C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" name="Google Shape;60;p13"/>
          <p:cNvSpPr/>
          <p:nvPr/>
        </p:nvSpPr>
        <p:spPr>
          <a:xfrm>
            <a:off x="2695025" y="1748325"/>
            <a:ext cx="10179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Gross Output</a:t>
            </a:r>
            <a:endParaRPr/>
          </a:p>
        </p:txBody>
      </p:sp>
      <p:cxnSp>
        <p:nvCxnSpPr>
          <p:cNvPr id="72" name="Google Shape;72;p13"/>
          <p:cNvCxnSpPr>
            <a:stCxn id="60" idx="0"/>
            <a:endCxn id="57" idx="0"/>
          </p:cNvCxnSpPr>
          <p:nvPr/>
        </p:nvCxnSpPr>
        <p:spPr>
          <a:xfrm rot="5400000">
            <a:off x="2342525" y="891975"/>
            <a:ext cx="5100" cy="1717800"/>
          </a:xfrm>
          <a:prstGeom prst="bentConnector3">
            <a:avLst>
              <a:gd name="adj1" fmla="val -466911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stCxn id="60" idx="0"/>
            <a:endCxn id="56" idx="2"/>
          </p:cNvCxnSpPr>
          <p:nvPr/>
        </p:nvCxnSpPr>
        <p:spPr>
          <a:xfrm rot="10800000">
            <a:off x="3203975" y="833325"/>
            <a:ext cx="0" cy="9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60" idx="3"/>
            <a:endCxn id="58" idx="1"/>
          </p:cNvCxnSpPr>
          <p:nvPr/>
        </p:nvCxnSpPr>
        <p:spPr>
          <a:xfrm>
            <a:off x="3712925" y="2069175"/>
            <a:ext cx="858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stCxn id="63" idx="2"/>
            <a:endCxn id="58" idx="0"/>
          </p:cNvCxnSpPr>
          <p:nvPr/>
        </p:nvCxnSpPr>
        <p:spPr>
          <a:xfrm>
            <a:off x="5238575" y="833275"/>
            <a:ext cx="8700" cy="9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3"/>
          <p:cNvCxnSpPr>
            <a:stCxn id="58" idx="2"/>
            <a:endCxn id="66" idx="0"/>
          </p:cNvCxnSpPr>
          <p:nvPr/>
        </p:nvCxnSpPr>
        <p:spPr>
          <a:xfrm>
            <a:off x="5247125" y="2390025"/>
            <a:ext cx="0" cy="97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" name="Google Shape;77;p13"/>
          <p:cNvSpPr/>
          <p:nvPr/>
        </p:nvSpPr>
        <p:spPr>
          <a:xfrm>
            <a:off x="3416400" y="4423150"/>
            <a:ext cx="1671300" cy="64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Utility Function</a:t>
            </a:r>
            <a:endParaRPr/>
          </a:p>
        </p:txBody>
      </p:sp>
      <p:cxnSp>
        <p:nvCxnSpPr>
          <p:cNvPr id="78" name="Google Shape;78;p13"/>
          <p:cNvCxnSpPr>
            <a:stCxn id="67" idx="3"/>
            <a:endCxn id="77" idx="0"/>
          </p:cNvCxnSpPr>
          <p:nvPr/>
        </p:nvCxnSpPr>
        <p:spPr>
          <a:xfrm>
            <a:off x="3961825" y="3563275"/>
            <a:ext cx="290100" cy="859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3"/>
          <p:cNvCxnSpPr>
            <a:stCxn id="66" idx="2"/>
            <a:endCxn id="77" idx="0"/>
          </p:cNvCxnSpPr>
          <p:nvPr/>
        </p:nvCxnSpPr>
        <p:spPr>
          <a:xfrm rot="5400000">
            <a:off x="4539425" y="3715375"/>
            <a:ext cx="420300" cy="9951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" name="Google Shape;80;p13"/>
          <p:cNvSpPr txBox="1"/>
          <p:nvPr/>
        </p:nvSpPr>
        <p:spPr>
          <a:xfrm>
            <a:off x="1671400" y="1249950"/>
            <a:ext cx="766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savings</a:t>
            </a:r>
            <a:endParaRPr sz="900"/>
          </a:p>
        </p:txBody>
      </p:sp>
      <p:sp>
        <p:nvSpPr>
          <p:cNvPr id="81" name="Google Shape;81;p13"/>
          <p:cNvSpPr txBox="1"/>
          <p:nvPr/>
        </p:nvSpPr>
        <p:spPr>
          <a:xfrm>
            <a:off x="3250950" y="1044150"/>
            <a:ext cx="766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emissions</a:t>
            </a:r>
            <a:endParaRPr sz="900"/>
          </a:p>
        </p:txBody>
      </p:sp>
      <p:sp>
        <p:nvSpPr>
          <p:cNvPr id="82" name="Google Shape;82;p13"/>
          <p:cNvSpPr txBox="1"/>
          <p:nvPr/>
        </p:nvSpPr>
        <p:spPr>
          <a:xfrm>
            <a:off x="1671400" y="2614775"/>
            <a:ext cx="766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Income elasticity</a:t>
            </a:r>
            <a:endParaRPr sz="900"/>
          </a:p>
        </p:txBody>
      </p:sp>
      <p:sp>
        <p:nvSpPr>
          <p:cNvPr id="83" name="Google Shape;83;p13"/>
          <p:cNvSpPr txBox="1"/>
          <p:nvPr/>
        </p:nvSpPr>
        <p:spPr>
          <a:xfrm>
            <a:off x="630450" y="281825"/>
            <a:ext cx="766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damages</a:t>
            </a:r>
            <a:endParaRPr sz="900"/>
          </a:p>
        </p:txBody>
      </p:sp>
      <p:sp>
        <p:nvSpPr>
          <p:cNvPr id="84" name="Google Shape;84;p13"/>
          <p:cNvSpPr/>
          <p:nvPr/>
        </p:nvSpPr>
        <p:spPr>
          <a:xfrm>
            <a:off x="6849150" y="1813875"/>
            <a:ext cx="291600" cy="2058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49150" y="2118675"/>
            <a:ext cx="291600" cy="2058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179575" y="1659075"/>
            <a:ext cx="1350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New Implementation</a:t>
            </a:r>
            <a:endParaRPr sz="1100"/>
          </a:p>
        </p:txBody>
      </p:sp>
      <p:sp>
        <p:nvSpPr>
          <p:cNvPr id="87" name="Google Shape;87;p13"/>
          <p:cNvSpPr txBox="1"/>
          <p:nvPr/>
        </p:nvSpPr>
        <p:spPr>
          <a:xfrm>
            <a:off x="7179575" y="2034075"/>
            <a:ext cx="1350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RICE50+</a:t>
            </a:r>
            <a:endParaRPr/>
          </a:p>
        </p:txBody>
      </p:sp>
      <p:cxnSp>
        <p:nvCxnSpPr>
          <p:cNvPr id="88" name="Google Shape;88;p13"/>
          <p:cNvCxnSpPr>
            <a:stCxn id="55" idx="3"/>
            <a:endCxn id="67" idx="1"/>
          </p:cNvCxnSpPr>
          <p:nvPr/>
        </p:nvCxnSpPr>
        <p:spPr>
          <a:xfrm rot="10800000" flipH="1">
            <a:off x="1764825" y="3563425"/>
            <a:ext cx="1038000" cy="118500"/>
          </a:xfrm>
          <a:prstGeom prst="bentConnector3">
            <a:avLst>
              <a:gd name="adj1" fmla="val 7699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" name="Google Shape;89;p13"/>
          <p:cNvSpPr/>
          <p:nvPr/>
        </p:nvSpPr>
        <p:spPr>
          <a:xfrm>
            <a:off x="2802925" y="3728100"/>
            <a:ext cx="1158900" cy="3750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Non-use values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0" name="Google Shape;90;p13"/>
          <p:cNvCxnSpPr>
            <a:stCxn id="55" idx="3"/>
            <a:endCxn id="89" idx="1"/>
          </p:cNvCxnSpPr>
          <p:nvPr/>
        </p:nvCxnSpPr>
        <p:spPr>
          <a:xfrm>
            <a:off x="1764825" y="3681925"/>
            <a:ext cx="1038000" cy="233700"/>
          </a:xfrm>
          <a:prstGeom prst="bentConnector3">
            <a:avLst>
              <a:gd name="adj1" fmla="val 7699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>
            <a:extLst>
              <a:ext uri="{FF2B5EF4-FFF2-40B4-BE49-F238E27FC236}">
                <a16:creationId xmlns:a16="http://schemas.microsoft.com/office/drawing/2014/main" id="{9D5688DA-53B4-0EA0-CEEF-FC0575BC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376" y="202565"/>
            <a:ext cx="6228384" cy="214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8328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73</Words>
  <Application>Microsoft Office PowerPoint</Application>
  <PresentationFormat>On-screen Show (16:9)</PresentationFormat>
  <Paragraphs>45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Johannes Emmerling</cp:lastModifiedBy>
  <cp:revision>9</cp:revision>
  <dcterms:modified xsi:type="dcterms:W3CDTF">2024-11-21T05:14:03Z</dcterms:modified>
</cp:coreProperties>
</file>